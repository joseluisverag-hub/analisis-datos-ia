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83B56"/>
          </a:solidFill>
          <a:ln>
            <a:solidFill>
              <a:srgbClr val="183B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10515600" cy="731520"/>
          </a:xfrm>
          <a:prstGeom prst="rect">
            <a:avLst/>
          </a:prstGeom>
          <a:noFill/>
        </p:spPr>
        <p:txBody>
          <a:bodyPr wrap="none">
            <a:spAutoFit/>
          </a:bodyPr>
          <a:lstStyle/>
          <a:p>
            <a:pPr>
              <a:defRPr sz="2400" b="1">
                <a:solidFill>
                  <a:srgbClr val="183B56"/>
                </a:solidFill>
                <a:latin typeface="Aptos Display"/>
              </a:defRPr>
            </a:pPr>
            <a:r>
              <a:t>Titanic: análisis exploratorio y factores asociados a la supervivencia</a:t>
            </a:r>
          </a:p>
        </p:txBody>
      </p:sp>
      <p:sp>
        <p:nvSpPr>
          <p:cNvPr id="4" name="TextBox 3"/>
          <p:cNvSpPr txBox="1"/>
          <p:nvPr/>
        </p:nvSpPr>
        <p:spPr>
          <a:xfrm>
            <a:off x="640080" y="1737360"/>
            <a:ext cx="10515600" cy="365760"/>
          </a:xfrm>
          <a:prstGeom prst="rect">
            <a:avLst/>
          </a:prstGeom>
          <a:noFill/>
        </p:spPr>
        <p:txBody>
          <a:bodyPr wrap="none">
            <a:spAutoFit/>
          </a:bodyPr>
          <a:lstStyle/>
          <a:p>
            <a:pPr>
              <a:defRPr sz="1300">
                <a:solidFill>
                  <a:srgbClr val="6B7280"/>
                </a:solidFill>
                <a:latin typeface="Aptos"/>
              </a:defRPr>
            </a:pPr>
            <a:r>
              <a:t>Documento generado automáticamente desde la extracción del notebook</a:t>
            </a:r>
          </a:p>
        </p:txBody>
      </p:sp>
      <p:sp>
        <p:nvSpPr>
          <p:cNvPr id="5" name="TextBox 4"/>
          <p:cNvSpPr txBox="1"/>
          <p:nvPr/>
        </p:nvSpPr>
        <p:spPr>
          <a:xfrm>
            <a:off x="640080" y="2286000"/>
            <a:ext cx="10515600" cy="365760"/>
          </a:xfrm>
          <a:prstGeom prst="rect">
            <a:avLst/>
          </a:prstGeom>
          <a:noFill/>
        </p:spPr>
        <p:txBody>
          <a:bodyPr wrap="none">
            <a:spAutoFit/>
          </a:bodyPr>
          <a:lstStyle/>
          <a:p>
            <a:pPr>
              <a:defRPr sz="1100">
                <a:solidFill>
                  <a:srgbClr val="1F2937"/>
                </a:solidFill>
                <a:latin typeface="Aptos"/>
              </a:defRPr>
            </a:pPr>
            <a:r>
              <a:t>Notebook origen: notebooks/04_visualizacion_storytelling.ipynb</a:t>
            </a:r>
          </a:p>
        </p:txBody>
      </p:sp>
      <p:sp>
        <p:nvSpPr>
          <p:cNvPr id="6" name="TextBox 5"/>
          <p:cNvSpPr txBox="1"/>
          <p:nvPr/>
        </p:nvSpPr>
        <p:spPr>
          <a:xfrm>
            <a:off x="640080" y="2651760"/>
            <a:ext cx="10515600" cy="365760"/>
          </a:xfrm>
          <a:prstGeom prst="rect">
            <a:avLst/>
          </a:prstGeom>
          <a:noFill/>
        </p:spPr>
        <p:txBody>
          <a:bodyPr wrap="none">
            <a:spAutoFit/>
          </a:bodyPr>
          <a:lstStyle/>
          <a:p>
            <a:pPr>
              <a:defRPr sz="1100">
                <a:solidFill>
                  <a:srgbClr val="1F2937"/>
                </a:solidFill>
                <a:latin typeface="Aptos"/>
              </a:defRPr>
            </a:pPr>
            <a:r>
              <a:t>Insights detectados: 8 | Gráficos detectados: 7</a:t>
            </a:r>
          </a:p>
        </p:txBody>
      </p:sp>
      <p:sp>
        <p:nvSpPr>
          <p:cNvPr id="7" name="TextBox 6"/>
          <p:cNvSpPr txBox="1"/>
          <p:nvPr/>
        </p:nvSpPr>
        <p:spPr>
          <a:xfrm>
            <a:off x="640080" y="3200400"/>
            <a:ext cx="10515600" cy="548640"/>
          </a:xfrm>
          <a:prstGeom prst="rect">
            <a:avLst/>
          </a:prstGeom>
          <a:noFill/>
        </p:spPr>
        <p:txBody>
          <a:bodyPr wrap="none">
            <a:spAutoFit/>
          </a:bodyPr>
          <a:lstStyle/>
          <a:p>
            <a:pPr>
              <a:defRPr sz="1500">
                <a:solidFill>
                  <a:srgbClr val="1F2937"/>
                </a:solidFill>
                <a:latin typeface="Aptos"/>
              </a:defRPr>
            </a:pPr>
            <a:r>
              <a:t>Estructura: título, insights, conclusión y gráficos extraídos automáticamente.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457200"/>
          </a:xfrm>
          <a:prstGeom prst="rect">
            <a:avLst/>
          </a:prstGeom>
          <a:noFill/>
        </p:spPr>
        <p:txBody>
          <a:bodyPr wrap="none">
            <a:spAutoFit/>
          </a:bodyPr>
          <a:lstStyle/>
          <a:p>
            <a:pPr>
              <a:defRPr sz="2200" b="1">
                <a:solidFill>
                  <a:srgbClr val="183B56"/>
                </a:solidFill>
                <a:latin typeface="Aptos Display"/>
              </a:defRPr>
            </a:pPr>
            <a:r>
              <a:t>Insights clave</a:t>
            </a:r>
          </a:p>
        </p:txBody>
      </p:sp>
      <p:sp>
        <p:nvSpPr>
          <p:cNvPr id="3" name="TextBox 2"/>
          <p:cNvSpPr txBox="1"/>
          <p:nvPr/>
        </p:nvSpPr>
        <p:spPr>
          <a:xfrm>
            <a:off x="731520" y="1097280"/>
            <a:ext cx="10789920" cy="502920"/>
          </a:xfrm>
          <a:prstGeom prst="rect">
            <a:avLst/>
          </a:prstGeom>
          <a:noFill/>
        </p:spPr>
        <p:txBody>
          <a:bodyPr wrap="square">
            <a:spAutoFit/>
          </a:bodyPr>
          <a:lstStyle/>
          <a:p>
            <a:pPr>
              <a:defRPr sz="1300">
                <a:solidFill>
                  <a:srgbClr val="1F2937"/>
                </a:solidFill>
                <a:latin typeface="Aptos"/>
              </a:defRPr>
            </a:pPr>
            <a:r>
              <a:t>1. Insight Los datos muestran que la proporción general de supervivencia fue menor al 50 %, por lo que la mayoría de los pasajeros no sobrevivió. Esto sugiere un desenlace ampliamente adverso y refuerza la conveniencia de analizar variables como sexo, clase y edad para entender qué factores podrían estar asociados a diferencias en el resultado.</a:t>
            </a:r>
          </a:p>
        </p:txBody>
      </p:sp>
      <p:sp>
        <p:nvSpPr>
          <p:cNvPr id="4" name="TextBox 3"/>
          <p:cNvSpPr txBox="1"/>
          <p:nvPr/>
        </p:nvSpPr>
        <p:spPr>
          <a:xfrm>
            <a:off x="731520" y="1783080"/>
            <a:ext cx="10789920" cy="502920"/>
          </a:xfrm>
          <a:prstGeom prst="rect">
            <a:avLst/>
          </a:prstGeom>
          <a:noFill/>
        </p:spPr>
        <p:txBody>
          <a:bodyPr wrap="square">
            <a:spAutoFit/>
          </a:bodyPr>
          <a:lstStyle/>
          <a:p>
            <a:pPr>
              <a:defRPr sz="1300">
                <a:solidFill>
                  <a:srgbClr val="1F2937"/>
                </a:solidFill>
                <a:latin typeface="Aptos"/>
              </a:defRPr>
            </a:pPr>
            <a:r>
              <a:t>2. Insight Los datos muestran que las mujeres registran una tasa de supervivencia considerablemente superior a la de los hombres. Esto sugiere que el sexo podría estar asociado de forma relevante con la probabilidad de supervivencia y que esta variable puede aportar valor explicativo en análisis posteriores.</a:t>
            </a:r>
          </a:p>
        </p:txBody>
      </p:sp>
      <p:sp>
        <p:nvSpPr>
          <p:cNvPr id="5" name="TextBox 4"/>
          <p:cNvSpPr txBox="1"/>
          <p:nvPr/>
        </p:nvSpPr>
        <p:spPr>
          <a:xfrm>
            <a:off x="731520" y="2468880"/>
            <a:ext cx="10789920" cy="502920"/>
          </a:xfrm>
          <a:prstGeom prst="rect">
            <a:avLst/>
          </a:prstGeom>
          <a:noFill/>
        </p:spPr>
        <p:txBody>
          <a:bodyPr wrap="square">
            <a:spAutoFit/>
          </a:bodyPr>
          <a:lstStyle/>
          <a:p>
            <a:pPr>
              <a:defRPr sz="1300">
                <a:solidFill>
                  <a:srgbClr val="1F2937"/>
                </a:solidFill>
                <a:latin typeface="Aptos"/>
              </a:defRPr>
            </a:pPr>
            <a:r>
              <a:t>3. Insight Los datos muestran que los pasajeros de primera clase registran la mayor tasa de supervivencia, seguidos por los de segunda clase, mientras que la tercera clase presenta la más baja. Esto sugiere que la clase del pasajero podría estar asociada de manera importante con el resultado, por lo que Pclass aparece como una variable relevante para explicar diferencias en la supervivencia.</a:t>
            </a:r>
          </a:p>
        </p:txBody>
      </p:sp>
      <p:sp>
        <p:nvSpPr>
          <p:cNvPr id="6" name="TextBox 5"/>
          <p:cNvSpPr txBox="1"/>
          <p:nvPr/>
        </p:nvSpPr>
        <p:spPr>
          <a:xfrm>
            <a:off x="731520" y="3154680"/>
            <a:ext cx="10789920" cy="502920"/>
          </a:xfrm>
          <a:prstGeom prst="rect">
            <a:avLst/>
          </a:prstGeom>
          <a:noFill/>
        </p:spPr>
        <p:txBody>
          <a:bodyPr wrap="square">
            <a:spAutoFit/>
          </a:bodyPr>
          <a:lstStyle/>
          <a:p>
            <a:pPr>
              <a:defRPr sz="1300">
                <a:solidFill>
                  <a:srgbClr val="1F2937"/>
                </a:solidFill>
                <a:latin typeface="Aptos"/>
              </a:defRPr>
            </a:pPr>
            <a:r>
              <a:t>4. Insight Los datos muestran que las mujeres presentan tasas de supervivencia superiores a las de los hombres en todas las clases, y que la clase modula con claridad este patrón. Esto sugiere que la combinación entre Sex y Pclass podría estar asociada de forma especialmente fuerte con la supervivencia. En esta lectura, las mujeres de primera clase concentran los resultados más favorables, mientras que los hombres de tercera clase muestran los más desfavorables.</a:t>
            </a:r>
          </a:p>
        </p:txBody>
      </p:sp>
      <p:sp>
        <p:nvSpPr>
          <p:cNvPr id="7" name="TextBox 6"/>
          <p:cNvSpPr txBox="1"/>
          <p:nvPr/>
        </p:nvSpPr>
        <p:spPr>
          <a:xfrm>
            <a:off x="731520" y="3840480"/>
            <a:ext cx="10789920" cy="502920"/>
          </a:xfrm>
          <a:prstGeom prst="rect">
            <a:avLst/>
          </a:prstGeom>
          <a:noFill/>
        </p:spPr>
        <p:txBody>
          <a:bodyPr wrap="square">
            <a:spAutoFit/>
          </a:bodyPr>
          <a:lstStyle/>
          <a:p>
            <a:pPr>
              <a:defRPr sz="1300">
                <a:solidFill>
                  <a:srgbClr val="1F2937"/>
                </a:solidFill>
                <a:latin typeface="Aptos"/>
              </a:defRPr>
            </a:pPr>
            <a:r>
              <a:t>5. Insight Los datos muestran que los niños presentan la mayor tasa de supervivencia entre los grupos etarios observados, mientras que los adultos mayores registran los valores más bajos. Los adultos se ubican en un nivel intermedio. Esto sugiere que la edad podría estar asociada a diferencias relevantes en la probabilidad de supervivencia y que Age, o variables derivadas como grupo_edad, podrían aportar valor explicativo en un modelo posterior.</a:t>
            </a:r>
          </a:p>
        </p:txBody>
      </p:sp>
      <p:sp>
        <p:nvSpPr>
          <p:cNvPr id="8" name="TextBox 7"/>
          <p:cNvSpPr txBox="1"/>
          <p:nvPr/>
        </p:nvSpPr>
        <p:spPr>
          <a:xfrm>
            <a:off x="731520" y="4526280"/>
            <a:ext cx="10789920" cy="502920"/>
          </a:xfrm>
          <a:prstGeom prst="rect">
            <a:avLst/>
          </a:prstGeom>
          <a:noFill/>
        </p:spPr>
        <p:txBody>
          <a:bodyPr wrap="square">
            <a:spAutoFit/>
          </a:bodyPr>
          <a:lstStyle/>
          <a:p>
            <a:pPr>
              <a:defRPr sz="1300">
                <a:solidFill>
                  <a:srgbClr val="1F2937"/>
                </a:solidFill>
                <a:latin typeface="Aptos"/>
              </a:defRPr>
            </a:pPr>
            <a:r>
              <a:t>6. Insight Los datos muestran un patrón no lineal entre el tamaño de la familia y la supervivencia: los grupos pequeños o medianos registran mejores tasas que quienes viajaban solos o en familias muy grandes. Esto sugiere que el tamaño del núcleo familiar podría estar asociado al resultado final. Una posible explicación es que ciertos tamaños de grupo hayan facilitado o dificultado la capacidad de respuesta durante la evacuación, aunque los datos no permiten afirmarlo como causa probada. En términos analíticos, tamano_familia parece ser una variable útil para complementar la lectura demográfica y socioeconómica de la supervivencia.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457200"/>
          </a:xfrm>
          <a:prstGeom prst="rect">
            <a:avLst/>
          </a:prstGeom>
          <a:noFill/>
        </p:spPr>
        <p:txBody>
          <a:bodyPr wrap="none">
            <a:spAutoFit/>
          </a:bodyPr>
          <a:lstStyle/>
          <a:p>
            <a:pPr>
              <a:defRPr sz="2200" b="1">
                <a:solidFill>
                  <a:srgbClr val="183B56"/>
                </a:solidFill>
                <a:latin typeface="Aptos Display"/>
              </a:defRPr>
            </a:pPr>
            <a:r>
              <a:t>Supervivencia general</a:t>
            </a:r>
          </a:p>
        </p:txBody>
      </p:sp>
      <p:pic>
        <p:nvPicPr>
          <p:cNvPr id="3" name="Picture 2" descr="chart_01.png"/>
          <p:cNvPicPr>
            <a:picLocks noChangeAspect="1"/>
          </p:cNvPicPr>
          <p:nvPr/>
        </p:nvPicPr>
        <p:blipFill>
          <a:blip r:embed="rId2"/>
          <a:stretch>
            <a:fillRect/>
          </a:stretch>
        </p:blipFill>
        <p:spPr>
          <a:xfrm>
            <a:off x="640080" y="1097280"/>
            <a:ext cx="6400800" cy="4206240"/>
          </a:xfrm>
          <a:prstGeom prst="rect">
            <a:avLst/>
          </a:prstGeom>
        </p:spPr>
      </p:pic>
      <p:sp>
        <p:nvSpPr>
          <p:cNvPr id="4" name="Rounded Rectangle 3"/>
          <p:cNvSpPr/>
          <p:nvPr/>
        </p:nvSpPr>
        <p:spPr>
          <a:xfrm>
            <a:off x="7315200" y="1188720"/>
            <a:ext cx="4297680" cy="4023360"/>
          </a:xfrm>
          <a:prstGeom prst="roundRect">
            <a:avLst/>
          </a:prstGeom>
          <a:solidFill>
            <a:srgbClr val="F6F8FB"/>
          </a:solidFill>
          <a:ln>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43800" y="1417320"/>
            <a:ext cx="3474720" cy="274320"/>
          </a:xfrm>
          <a:prstGeom prst="rect">
            <a:avLst/>
          </a:prstGeom>
          <a:noFill/>
        </p:spPr>
        <p:txBody>
          <a:bodyPr wrap="none">
            <a:spAutoFit/>
          </a:bodyPr>
          <a:lstStyle/>
          <a:p>
            <a:pPr>
              <a:defRPr sz="1400" b="1">
                <a:solidFill>
                  <a:srgbClr val="183B56"/>
                </a:solidFill>
                <a:latin typeface="Aptos"/>
              </a:defRPr>
            </a:pPr>
            <a:r>
              <a:t>Insight asociado</a:t>
            </a:r>
          </a:p>
        </p:txBody>
      </p:sp>
      <p:sp>
        <p:nvSpPr>
          <p:cNvPr id="6" name="TextBox 5"/>
          <p:cNvSpPr txBox="1"/>
          <p:nvPr/>
        </p:nvSpPr>
        <p:spPr>
          <a:xfrm>
            <a:off x="7543800" y="1828800"/>
            <a:ext cx="3657600" cy="502920"/>
          </a:xfrm>
          <a:prstGeom prst="rect">
            <a:avLst/>
          </a:prstGeom>
          <a:noFill/>
        </p:spPr>
        <p:txBody>
          <a:bodyPr wrap="none">
            <a:spAutoFit/>
          </a:bodyPr>
          <a:lstStyle/>
          <a:p>
            <a:pPr>
              <a:defRPr sz="1200">
                <a:solidFill>
                  <a:srgbClr val="1F2937"/>
                </a:solidFill>
                <a:latin typeface="Aptos"/>
              </a:defRPr>
            </a:pPr>
            <a:r>
              <a:t>• Insight Los datos muestran que la proporción general de supervivencia fue menor al 50 %, por lo que la mayoría de los pasajeros no sobrevivió. Esto sugiere un desenlace ampliamente adverso y refuerza la conveniencia de</a:t>
            </a:r>
          </a:p>
        </p:txBody>
      </p:sp>
      <p:sp>
        <p:nvSpPr>
          <p:cNvPr id="7" name="TextBox 6"/>
          <p:cNvSpPr txBox="1"/>
          <p:nvPr/>
        </p:nvSpPr>
        <p:spPr>
          <a:xfrm>
            <a:off x="7543800" y="2468880"/>
            <a:ext cx="3657600" cy="502920"/>
          </a:xfrm>
          <a:prstGeom prst="rect">
            <a:avLst/>
          </a:prstGeom>
          <a:noFill/>
        </p:spPr>
        <p:txBody>
          <a:bodyPr wrap="none">
            <a:spAutoFit/>
          </a:bodyPr>
          <a:lstStyle/>
          <a:p>
            <a:pPr>
              <a:defRPr sz="1200">
                <a:solidFill>
                  <a:srgbClr val="1F2937"/>
                </a:solidFill>
                <a:latin typeface="Aptos"/>
              </a:defRPr>
            </a:pPr>
            <a:r>
              <a:t>• analizar variables como sexo, clase y edad para entender qué factores podrían estar asociados a diferencias en el resultado.</a:t>
            </a:r>
          </a:p>
        </p:txBody>
      </p:sp>
      <p:sp>
        <p:nvSpPr>
          <p:cNvPr id="8" name="TextBox 7"/>
          <p:cNvSpPr txBox="1"/>
          <p:nvPr/>
        </p:nvSpPr>
        <p:spPr>
          <a:xfrm>
            <a:off x="7543800" y="4754880"/>
            <a:ext cx="3200400" cy="228600"/>
          </a:xfrm>
          <a:prstGeom prst="rect">
            <a:avLst/>
          </a:prstGeom>
          <a:noFill/>
        </p:spPr>
        <p:txBody>
          <a:bodyPr wrap="none">
            <a:spAutoFit/>
          </a:bodyPr>
          <a:lstStyle/>
          <a:p>
            <a:pPr>
              <a:defRPr sz="1000">
                <a:solidFill>
                  <a:srgbClr val="6B7280"/>
                </a:solidFill>
                <a:latin typeface="Aptos"/>
              </a:defRPr>
            </a:pPr>
            <a:r>
              <a:t>Fuente: celda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457200"/>
          </a:xfrm>
          <a:prstGeom prst="rect">
            <a:avLst/>
          </a:prstGeom>
          <a:noFill/>
        </p:spPr>
        <p:txBody>
          <a:bodyPr wrap="none">
            <a:spAutoFit/>
          </a:bodyPr>
          <a:lstStyle/>
          <a:p>
            <a:pPr>
              <a:defRPr sz="2200" b="1">
                <a:solidFill>
                  <a:srgbClr val="183B56"/>
                </a:solidFill>
                <a:latin typeface="Aptos Display"/>
              </a:defRPr>
            </a:pPr>
            <a:r>
              <a:t>Supervivencia por sexo</a:t>
            </a:r>
          </a:p>
        </p:txBody>
      </p:sp>
      <p:pic>
        <p:nvPicPr>
          <p:cNvPr id="3" name="Picture 2" descr="chart_02.png"/>
          <p:cNvPicPr>
            <a:picLocks noChangeAspect="1"/>
          </p:cNvPicPr>
          <p:nvPr/>
        </p:nvPicPr>
        <p:blipFill>
          <a:blip r:embed="rId2"/>
          <a:stretch>
            <a:fillRect/>
          </a:stretch>
        </p:blipFill>
        <p:spPr>
          <a:xfrm>
            <a:off x="640080" y="1097280"/>
            <a:ext cx="6400800" cy="4206240"/>
          </a:xfrm>
          <a:prstGeom prst="rect">
            <a:avLst/>
          </a:prstGeom>
        </p:spPr>
      </p:pic>
      <p:sp>
        <p:nvSpPr>
          <p:cNvPr id="4" name="Rounded Rectangle 3"/>
          <p:cNvSpPr/>
          <p:nvPr/>
        </p:nvSpPr>
        <p:spPr>
          <a:xfrm>
            <a:off x="7315200" y="1188720"/>
            <a:ext cx="4297680" cy="4023360"/>
          </a:xfrm>
          <a:prstGeom prst="roundRect">
            <a:avLst/>
          </a:prstGeom>
          <a:solidFill>
            <a:srgbClr val="F6F8FB"/>
          </a:solidFill>
          <a:ln>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43800" y="1417320"/>
            <a:ext cx="3474720" cy="274320"/>
          </a:xfrm>
          <a:prstGeom prst="rect">
            <a:avLst/>
          </a:prstGeom>
          <a:noFill/>
        </p:spPr>
        <p:txBody>
          <a:bodyPr wrap="none">
            <a:spAutoFit/>
          </a:bodyPr>
          <a:lstStyle/>
          <a:p>
            <a:pPr>
              <a:defRPr sz="1400" b="1">
                <a:solidFill>
                  <a:srgbClr val="183B56"/>
                </a:solidFill>
                <a:latin typeface="Aptos"/>
              </a:defRPr>
            </a:pPr>
            <a:r>
              <a:t>Insight asociado</a:t>
            </a:r>
          </a:p>
        </p:txBody>
      </p:sp>
      <p:sp>
        <p:nvSpPr>
          <p:cNvPr id="6" name="TextBox 5"/>
          <p:cNvSpPr txBox="1"/>
          <p:nvPr/>
        </p:nvSpPr>
        <p:spPr>
          <a:xfrm>
            <a:off x="7543800" y="1828800"/>
            <a:ext cx="3657600" cy="502920"/>
          </a:xfrm>
          <a:prstGeom prst="rect">
            <a:avLst/>
          </a:prstGeom>
          <a:noFill/>
        </p:spPr>
        <p:txBody>
          <a:bodyPr wrap="none">
            <a:spAutoFit/>
          </a:bodyPr>
          <a:lstStyle/>
          <a:p>
            <a:pPr>
              <a:defRPr sz="1200">
                <a:solidFill>
                  <a:srgbClr val="1F2937"/>
                </a:solidFill>
                <a:latin typeface="Aptos"/>
              </a:defRPr>
            </a:pPr>
            <a:r>
              <a:t>• Insight Los datos muestran que las mujeres registran una tasa de supervivencia considerablemente superior a la de los hombres. Esto sugiere que el sexo podría estar asociado de forma relevante con la probabilidad de</a:t>
            </a:r>
          </a:p>
        </p:txBody>
      </p:sp>
      <p:sp>
        <p:nvSpPr>
          <p:cNvPr id="7" name="TextBox 6"/>
          <p:cNvSpPr txBox="1"/>
          <p:nvPr/>
        </p:nvSpPr>
        <p:spPr>
          <a:xfrm>
            <a:off x="7543800" y="2468880"/>
            <a:ext cx="3657600" cy="502920"/>
          </a:xfrm>
          <a:prstGeom prst="rect">
            <a:avLst/>
          </a:prstGeom>
          <a:noFill/>
        </p:spPr>
        <p:txBody>
          <a:bodyPr wrap="none">
            <a:spAutoFit/>
          </a:bodyPr>
          <a:lstStyle/>
          <a:p>
            <a:pPr>
              <a:defRPr sz="1200">
                <a:solidFill>
                  <a:srgbClr val="1F2937"/>
                </a:solidFill>
                <a:latin typeface="Aptos"/>
              </a:defRPr>
            </a:pPr>
            <a:r>
              <a:t>• supervivencia y que esta variable puede aportar valor explicativo en análisis posteriores.</a:t>
            </a:r>
          </a:p>
        </p:txBody>
      </p:sp>
      <p:sp>
        <p:nvSpPr>
          <p:cNvPr id="8" name="TextBox 7"/>
          <p:cNvSpPr txBox="1"/>
          <p:nvPr/>
        </p:nvSpPr>
        <p:spPr>
          <a:xfrm>
            <a:off x="7543800" y="4754880"/>
            <a:ext cx="3200400" cy="228600"/>
          </a:xfrm>
          <a:prstGeom prst="rect">
            <a:avLst/>
          </a:prstGeom>
          <a:noFill/>
        </p:spPr>
        <p:txBody>
          <a:bodyPr wrap="none">
            <a:spAutoFit/>
          </a:bodyPr>
          <a:lstStyle/>
          <a:p>
            <a:pPr>
              <a:defRPr sz="1000">
                <a:solidFill>
                  <a:srgbClr val="6B7280"/>
                </a:solidFill>
                <a:latin typeface="Aptos"/>
              </a:defRPr>
            </a:pPr>
            <a:r>
              <a:t>Fuente: celda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457200"/>
          </a:xfrm>
          <a:prstGeom prst="rect">
            <a:avLst/>
          </a:prstGeom>
          <a:noFill/>
        </p:spPr>
        <p:txBody>
          <a:bodyPr wrap="none">
            <a:spAutoFit/>
          </a:bodyPr>
          <a:lstStyle/>
          <a:p>
            <a:pPr>
              <a:defRPr sz="2200" b="1">
                <a:solidFill>
                  <a:srgbClr val="183B56"/>
                </a:solidFill>
                <a:latin typeface="Aptos Display"/>
              </a:defRPr>
            </a:pPr>
            <a:r>
              <a:t>Supervivencia por clase</a:t>
            </a:r>
          </a:p>
        </p:txBody>
      </p:sp>
      <p:pic>
        <p:nvPicPr>
          <p:cNvPr id="3" name="Picture 2" descr="chart_03.png"/>
          <p:cNvPicPr>
            <a:picLocks noChangeAspect="1"/>
          </p:cNvPicPr>
          <p:nvPr/>
        </p:nvPicPr>
        <p:blipFill>
          <a:blip r:embed="rId2"/>
          <a:stretch>
            <a:fillRect/>
          </a:stretch>
        </p:blipFill>
        <p:spPr>
          <a:xfrm>
            <a:off x="640080" y="1097280"/>
            <a:ext cx="6400800" cy="4206240"/>
          </a:xfrm>
          <a:prstGeom prst="rect">
            <a:avLst/>
          </a:prstGeom>
        </p:spPr>
      </p:pic>
      <p:sp>
        <p:nvSpPr>
          <p:cNvPr id="4" name="Rounded Rectangle 3"/>
          <p:cNvSpPr/>
          <p:nvPr/>
        </p:nvSpPr>
        <p:spPr>
          <a:xfrm>
            <a:off x="7315200" y="1188720"/>
            <a:ext cx="4297680" cy="4023360"/>
          </a:xfrm>
          <a:prstGeom prst="roundRect">
            <a:avLst/>
          </a:prstGeom>
          <a:solidFill>
            <a:srgbClr val="F6F8FB"/>
          </a:solidFill>
          <a:ln>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43800" y="1417320"/>
            <a:ext cx="3474720" cy="274320"/>
          </a:xfrm>
          <a:prstGeom prst="rect">
            <a:avLst/>
          </a:prstGeom>
          <a:noFill/>
        </p:spPr>
        <p:txBody>
          <a:bodyPr wrap="none">
            <a:spAutoFit/>
          </a:bodyPr>
          <a:lstStyle/>
          <a:p>
            <a:pPr>
              <a:defRPr sz="1400" b="1">
                <a:solidFill>
                  <a:srgbClr val="183B56"/>
                </a:solidFill>
                <a:latin typeface="Aptos"/>
              </a:defRPr>
            </a:pPr>
            <a:r>
              <a:t>Insight asociado</a:t>
            </a:r>
          </a:p>
        </p:txBody>
      </p:sp>
      <p:sp>
        <p:nvSpPr>
          <p:cNvPr id="6" name="TextBox 5"/>
          <p:cNvSpPr txBox="1"/>
          <p:nvPr/>
        </p:nvSpPr>
        <p:spPr>
          <a:xfrm>
            <a:off x="7543800" y="1828800"/>
            <a:ext cx="3657600" cy="502920"/>
          </a:xfrm>
          <a:prstGeom prst="rect">
            <a:avLst/>
          </a:prstGeom>
          <a:noFill/>
        </p:spPr>
        <p:txBody>
          <a:bodyPr wrap="none">
            <a:spAutoFit/>
          </a:bodyPr>
          <a:lstStyle/>
          <a:p>
            <a:pPr>
              <a:defRPr sz="1200">
                <a:solidFill>
                  <a:srgbClr val="1F2937"/>
                </a:solidFill>
                <a:latin typeface="Aptos"/>
              </a:defRPr>
            </a:pPr>
            <a:r>
              <a:t>• Insight Los datos muestran que los pasajeros de primera clase registran la mayor tasa de supervivencia, seguidos por los de segunda clase, mientras que la tercera clase presenta la más baja. Esto sugiere que la clase</a:t>
            </a:r>
          </a:p>
        </p:txBody>
      </p:sp>
      <p:sp>
        <p:nvSpPr>
          <p:cNvPr id="7" name="TextBox 6"/>
          <p:cNvSpPr txBox="1"/>
          <p:nvPr/>
        </p:nvSpPr>
        <p:spPr>
          <a:xfrm>
            <a:off x="7543800" y="2468880"/>
            <a:ext cx="3657600" cy="502920"/>
          </a:xfrm>
          <a:prstGeom prst="rect">
            <a:avLst/>
          </a:prstGeom>
          <a:noFill/>
        </p:spPr>
        <p:txBody>
          <a:bodyPr wrap="none">
            <a:spAutoFit/>
          </a:bodyPr>
          <a:lstStyle/>
          <a:p>
            <a:pPr>
              <a:defRPr sz="1200">
                <a:solidFill>
                  <a:srgbClr val="1F2937"/>
                </a:solidFill>
                <a:latin typeface="Aptos"/>
              </a:defRPr>
            </a:pPr>
            <a:r>
              <a:t>• del pasajero podría estar asociada de manera importante con el resultado, por lo que Pclass aparece como una variable relevante para explicar diferencias en la supervivencia.</a:t>
            </a:r>
          </a:p>
        </p:txBody>
      </p:sp>
      <p:sp>
        <p:nvSpPr>
          <p:cNvPr id="8" name="TextBox 7"/>
          <p:cNvSpPr txBox="1"/>
          <p:nvPr/>
        </p:nvSpPr>
        <p:spPr>
          <a:xfrm>
            <a:off x="7543800" y="4754880"/>
            <a:ext cx="3200400" cy="228600"/>
          </a:xfrm>
          <a:prstGeom prst="rect">
            <a:avLst/>
          </a:prstGeom>
          <a:noFill/>
        </p:spPr>
        <p:txBody>
          <a:bodyPr wrap="none">
            <a:spAutoFit/>
          </a:bodyPr>
          <a:lstStyle/>
          <a:p>
            <a:pPr>
              <a:defRPr sz="1000">
                <a:solidFill>
                  <a:srgbClr val="6B7280"/>
                </a:solidFill>
                <a:latin typeface="Aptos"/>
              </a:defRPr>
            </a:pPr>
            <a:r>
              <a:t>Fuente: celda 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457200"/>
          </a:xfrm>
          <a:prstGeom prst="rect">
            <a:avLst/>
          </a:prstGeom>
          <a:noFill/>
        </p:spPr>
        <p:txBody>
          <a:bodyPr wrap="none">
            <a:spAutoFit/>
          </a:bodyPr>
          <a:lstStyle/>
          <a:p>
            <a:pPr>
              <a:defRPr sz="2200" b="1">
                <a:solidFill>
                  <a:srgbClr val="183B56"/>
                </a:solidFill>
                <a:latin typeface="Aptos Display"/>
              </a:defRPr>
            </a:pPr>
            <a:r>
              <a:t>Supervivencia por sexo + clase</a:t>
            </a:r>
          </a:p>
        </p:txBody>
      </p:sp>
      <p:pic>
        <p:nvPicPr>
          <p:cNvPr id="3" name="Picture 2" descr="chart_04.png"/>
          <p:cNvPicPr>
            <a:picLocks noChangeAspect="1"/>
          </p:cNvPicPr>
          <p:nvPr/>
        </p:nvPicPr>
        <p:blipFill>
          <a:blip r:embed="rId2"/>
          <a:stretch>
            <a:fillRect/>
          </a:stretch>
        </p:blipFill>
        <p:spPr>
          <a:xfrm>
            <a:off x="640080" y="1097280"/>
            <a:ext cx="6400800" cy="4206240"/>
          </a:xfrm>
          <a:prstGeom prst="rect">
            <a:avLst/>
          </a:prstGeom>
        </p:spPr>
      </p:pic>
      <p:sp>
        <p:nvSpPr>
          <p:cNvPr id="4" name="Rounded Rectangle 3"/>
          <p:cNvSpPr/>
          <p:nvPr/>
        </p:nvSpPr>
        <p:spPr>
          <a:xfrm>
            <a:off x="7315200" y="1188720"/>
            <a:ext cx="4297680" cy="4023360"/>
          </a:xfrm>
          <a:prstGeom prst="roundRect">
            <a:avLst/>
          </a:prstGeom>
          <a:solidFill>
            <a:srgbClr val="F6F8FB"/>
          </a:solidFill>
          <a:ln>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43800" y="1417320"/>
            <a:ext cx="3474720" cy="274320"/>
          </a:xfrm>
          <a:prstGeom prst="rect">
            <a:avLst/>
          </a:prstGeom>
          <a:noFill/>
        </p:spPr>
        <p:txBody>
          <a:bodyPr wrap="none">
            <a:spAutoFit/>
          </a:bodyPr>
          <a:lstStyle/>
          <a:p>
            <a:pPr>
              <a:defRPr sz="1400" b="1">
                <a:solidFill>
                  <a:srgbClr val="183B56"/>
                </a:solidFill>
                <a:latin typeface="Aptos"/>
              </a:defRPr>
            </a:pPr>
            <a:r>
              <a:t>Insight asociado</a:t>
            </a:r>
          </a:p>
        </p:txBody>
      </p:sp>
      <p:sp>
        <p:nvSpPr>
          <p:cNvPr id="6" name="TextBox 5"/>
          <p:cNvSpPr txBox="1"/>
          <p:nvPr/>
        </p:nvSpPr>
        <p:spPr>
          <a:xfrm>
            <a:off x="7543800" y="1828800"/>
            <a:ext cx="3657600" cy="502920"/>
          </a:xfrm>
          <a:prstGeom prst="rect">
            <a:avLst/>
          </a:prstGeom>
          <a:noFill/>
        </p:spPr>
        <p:txBody>
          <a:bodyPr wrap="none">
            <a:spAutoFit/>
          </a:bodyPr>
          <a:lstStyle/>
          <a:p>
            <a:pPr>
              <a:defRPr sz="1200">
                <a:solidFill>
                  <a:srgbClr val="1F2937"/>
                </a:solidFill>
                <a:latin typeface="Aptos"/>
              </a:defRPr>
            </a:pPr>
            <a:r>
              <a:t>• Insight Los datos muestran que las mujeres presentan tasas de supervivencia superiores a las de los hombres en todas las clases, y que la clase modula con claridad este patrón. Esto sugiere que la combinación entre Sex</a:t>
            </a:r>
          </a:p>
        </p:txBody>
      </p:sp>
      <p:sp>
        <p:nvSpPr>
          <p:cNvPr id="7" name="TextBox 6"/>
          <p:cNvSpPr txBox="1"/>
          <p:nvPr/>
        </p:nvSpPr>
        <p:spPr>
          <a:xfrm>
            <a:off x="7543800" y="2468880"/>
            <a:ext cx="3657600" cy="502920"/>
          </a:xfrm>
          <a:prstGeom prst="rect">
            <a:avLst/>
          </a:prstGeom>
          <a:noFill/>
        </p:spPr>
        <p:txBody>
          <a:bodyPr wrap="none">
            <a:spAutoFit/>
          </a:bodyPr>
          <a:lstStyle/>
          <a:p>
            <a:pPr>
              <a:defRPr sz="1200">
                <a:solidFill>
                  <a:srgbClr val="1F2937"/>
                </a:solidFill>
                <a:latin typeface="Aptos"/>
              </a:defRPr>
            </a:pPr>
            <a:r>
              <a:t>• y Pclass podría estar asociada de forma especialmente fuerte con la supervivencia. En esta lectura, las mujeres de primera clase concentran los resultados más favorables, mientras que los hombres de tercera clase</a:t>
            </a:r>
          </a:p>
        </p:txBody>
      </p:sp>
      <p:sp>
        <p:nvSpPr>
          <p:cNvPr id="8" name="TextBox 7"/>
          <p:cNvSpPr txBox="1"/>
          <p:nvPr/>
        </p:nvSpPr>
        <p:spPr>
          <a:xfrm>
            <a:off x="7543800" y="3108960"/>
            <a:ext cx="3657600" cy="502920"/>
          </a:xfrm>
          <a:prstGeom prst="rect">
            <a:avLst/>
          </a:prstGeom>
          <a:noFill/>
        </p:spPr>
        <p:txBody>
          <a:bodyPr wrap="none">
            <a:spAutoFit/>
          </a:bodyPr>
          <a:lstStyle/>
          <a:p>
            <a:pPr>
              <a:defRPr sz="1200">
                <a:solidFill>
                  <a:srgbClr val="1F2937"/>
                </a:solidFill>
                <a:latin typeface="Aptos"/>
              </a:defRPr>
            </a:pPr>
            <a:r>
              <a:t>• muestran los más desfavorables.</a:t>
            </a:r>
          </a:p>
        </p:txBody>
      </p:sp>
      <p:sp>
        <p:nvSpPr>
          <p:cNvPr id="9" name="TextBox 8"/>
          <p:cNvSpPr txBox="1"/>
          <p:nvPr/>
        </p:nvSpPr>
        <p:spPr>
          <a:xfrm>
            <a:off x="7543800" y="4754880"/>
            <a:ext cx="3200400" cy="228600"/>
          </a:xfrm>
          <a:prstGeom prst="rect">
            <a:avLst/>
          </a:prstGeom>
          <a:noFill/>
        </p:spPr>
        <p:txBody>
          <a:bodyPr wrap="none">
            <a:spAutoFit/>
          </a:bodyPr>
          <a:lstStyle/>
          <a:p>
            <a:pPr>
              <a:defRPr sz="1000">
                <a:solidFill>
                  <a:srgbClr val="6B7280"/>
                </a:solidFill>
                <a:latin typeface="Aptos"/>
              </a:defRPr>
            </a:pPr>
            <a:r>
              <a:t>Fuente: celda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457200"/>
          </a:xfrm>
          <a:prstGeom prst="rect">
            <a:avLst/>
          </a:prstGeom>
          <a:noFill/>
        </p:spPr>
        <p:txBody>
          <a:bodyPr wrap="none">
            <a:spAutoFit/>
          </a:bodyPr>
          <a:lstStyle/>
          <a:p>
            <a:pPr>
              <a:defRPr sz="2200" b="1">
                <a:solidFill>
                  <a:srgbClr val="183B56"/>
                </a:solidFill>
                <a:latin typeface="Aptos Display"/>
              </a:defRPr>
            </a:pPr>
            <a:r>
              <a:t>Supervivencia por grupo etario</a:t>
            </a:r>
          </a:p>
        </p:txBody>
      </p:sp>
      <p:pic>
        <p:nvPicPr>
          <p:cNvPr id="3" name="Picture 2" descr="chart_05.png"/>
          <p:cNvPicPr>
            <a:picLocks noChangeAspect="1"/>
          </p:cNvPicPr>
          <p:nvPr/>
        </p:nvPicPr>
        <p:blipFill>
          <a:blip r:embed="rId2"/>
          <a:stretch>
            <a:fillRect/>
          </a:stretch>
        </p:blipFill>
        <p:spPr>
          <a:xfrm>
            <a:off x="640080" y="1097280"/>
            <a:ext cx="6400800" cy="4206240"/>
          </a:xfrm>
          <a:prstGeom prst="rect">
            <a:avLst/>
          </a:prstGeom>
        </p:spPr>
      </p:pic>
      <p:sp>
        <p:nvSpPr>
          <p:cNvPr id="4" name="Rounded Rectangle 3"/>
          <p:cNvSpPr/>
          <p:nvPr/>
        </p:nvSpPr>
        <p:spPr>
          <a:xfrm>
            <a:off x="7315200" y="1188720"/>
            <a:ext cx="4297680" cy="4023360"/>
          </a:xfrm>
          <a:prstGeom prst="roundRect">
            <a:avLst/>
          </a:prstGeom>
          <a:solidFill>
            <a:srgbClr val="F6F8FB"/>
          </a:solidFill>
          <a:ln>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43800" y="1417320"/>
            <a:ext cx="3474720" cy="274320"/>
          </a:xfrm>
          <a:prstGeom prst="rect">
            <a:avLst/>
          </a:prstGeom>
          <a:noFill/>
        </p:spPr>
        <p:txBody>
          <a:bodyPr wrap="none">
            <a:spAutoFit/>
          </a:bodyPr>
          <a:lstStyle/>
          <a:p>
            <a:pPr>
              <a:defRPr sz="1400" b="1">
                <a:solidFill>
                  <a:srgbClr val="183B56"/>
                </a:solidFill>
                <a:latin typeface="Aptos"/>
              </a:defRPr>
            </a:pPr>
            <a:r>
              <a:t>Insight asociado</a:t>
            </a:r>
          </a:p>
        </p:txBody>
      </p:sp>
      <p:sp>
        <p:nvSpPr>
          <p:cNvPr id="6" name="TextBox 5"/>
          <p:cNvSpPr txBox="1"/>
          <p:nvPr/>
        </p:nvSpPr>
        <p:spPr>
          <a:xfrm>
            <a:off x="7543800" y="1828800"/>
            <a:ext cx="3657600" cy="502920"/>
          </a:xfrm>
          <a:prstGeom prst="rect">
            <a:avLst/>
          </a:prstGeom>
          <a:noFill/>
        </p:spPr>
        <p:txBody>
          <a:bodyPr wrap="none">
            <a:spAutoFit/>
          </a:bodyPr>
          <a:lstStyle/>
          <a:p>
            <a:pPr>
              <a:defRPr sz="1200">
                <a:solidFill>
                  <a:srgbClr val="1F2937"/>
                </a:solidFill>
                <a:latin typeface="Aptos"/>
              </a:defRPr>
            </a:pPr>
            <a:r>
              <a:t>• Insight Los datos muestran que los niños presentan la mayor tasa de supervivencia entre los grupos etarios observados, mientras que los adultos mayores registran los valores más bajos. Los adultos se ubican en un nivel</a:t>
            </a:r>
          </a:p>
        </p:txBody>
      </p:sp>
      <p:sp>
        <p:nvSpPr>
          <p:cNvPr id="7" name="TextBox 6"/>
          <p:cNvSpPr txBox="1"/>
          <p:nvPr/>
        </p:nvSpPr>
        <p:spPr>
          <a:xfrm>
            <a:off x="7543800" y="2468880"/>
            <a:ext cx="3657600" cy="502920"/>
          </a:xfrm>
          <a:prstGeom prst="rect">
            <a:avLst/>
          </a:prstGeom>
          <a:noFill/>
        </p:spPr>
        <p:txBody>
          <a:bodyPr wrap="none">
            <a:spAutoFit/>
          </a:bodyPr>
          <a:lstStyle/>
          <a:p>
            <a:pPr>
              <a:defRPr sz="1200">
                <a:solidFill>
                  <a:srgbClr val="1F2937"/>
                </a:solidFill>
                <a:latin typeface="Aptos"/>
              </a:defRPr>
            </a:pPr>
            <a:r>
              <a:t>• intermedio. Esto sugiere que la edad podría estar asociada a diferencias relevantes en la probabilidad de supervivencia y que Age, o variables derivadas como grupo_edad, podrían aportar valor explicativo en un modelo</a:t>
            </a:r>
          </a:p>
        </p:txBody>
      </p:sp>
      <p:sp>
        <p:nvSpPr>
          <p:cNvPr id="8" name="TextBox 7"/>
          <p:cNvSpPr txBox="1"/>
          <p:nvPr/>
        </p:nvSpPr>
        <p:spPr>
          <a:xfrm>
            <a:off x="7543800" y="3108960"/>
            <a:ext cx="3657600" cy="502920"/>
          </a:xfrm>
          <a:prstGeom prst="rect">
            <a:avLst/>
          </a:prstGeom>
          <a:noFill/>
        </p:spPr>
        <p:txBody>
          <a:bodyPr wrap="none">
            <a:spAutoFit/>
          </a:bodyPr>
          <a:lstStyle/>
          <a:p>
            <a:pPr>
              <a:defRPr sz="1200">
                <a:solidFill>
                  <a:srgbClr val="1F2937"/>
                </a:solidFill>
                <a:latin typeface="Aptos"/>
              </a:defRPr>
            </a:pPr>
            <a:r>
              <a:t>• posterior.</a:t>
            </a:r>
          </a:p>
        </p:txBody>
      </p:sp>
      <p:sp>
        <p:nvSpPr>
          <p:cNvPr id="9" name="TextBox 8"/>
          <p:cNvSpPr txBox="1"/>
          <p:nvPr/>
        </p:nvSpPr>
        <p:spPr>
          <a:xfrm>
            <a:off x="7543800" y="4754880"/>
            <a:ext cx="3200400" cy="228600"/>
          </a:xfrm>
          <a:prstGeom prst="rect">
            <a:avLst/>
          </a:prstGeom>
          <a:noFill/>
        </p:spPr>
        <p:txBody>
          <a:bodyPr wrap="none">
            <a:spAutoFit/>
          </a:bodyPr>
          <a:lstStyle/>
          <a:p>
            <a:pPr>
              <a:defRPr sz="1000">
                <a:solidFill>
                  <a:srgbClr val="6B7280"/>
                </a:solidFill>
                <a:latin typeface="Aptos"/>
              </a:defRPr>
            </a:pPr>
            <a:r>
              <a:t>Fuente: celda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457200"/>
          </a:xfrm>
          <a:prstGeom prst="rect">
            <a:avLst/>
          </a:prstGeom>
          <a:noFill/>
        </p:spPr>
        <p:txBody>
          <a:bodyPr wrap="none">
            <a:spAutoFit/>
          </a:bodyPr>
          <a:lstStyle/>
          <a:p>
            <a:pPr>
              <a:defRPr sz="2200" b="1">
                <a:solidFill>
                  <a:srgbClr val="183B56"/>
                </a:solidFill>
                <a:latin typeface="Aptos Display"/>
              </a:defRPr>
            </a:pPr>
            <a:r>
              <a:t>Supervivencia por tamaño de familia</a:t>
            </a:r>
          </a:p>
        </p:txBody>
      </p:sp>
      <p:pic>
        <p:nvPicPr>
          <p:cNvPr id="3" name="Picture 2" descr="chart_06.png"/>
          <p:cNvPicPr>
            <a:picLocks noChangeAspect="1"/>
          </p:cNvPicPr>
          <p:nvPr/>
        </p:nvPicPr>
        <p:blipFill>
          <a:blip r:embed="rId2"/>
          <a:stretch>
            <a:fillRect/>
          </a:stretch>
        </p:blipFill>
        <p:spPr>
          <a:xfrm>
            <a:off x="640080" y="1097280"/>
            <a:ext cx="6400800" cy="4206240"/>
          </a:xfrm>
          <a:prstGeom prst="rect">
            <a:avLst/>
          </a:prstGeom>
        </p:spPr>
      </p:pic>
      <p:sp>
        <p:nvSpPr>
          <p:cNvPr id="4" name="Rounded Rectangle 3"/>
          <p:cNvSpPr/>
          <p:nvPr/>
        </p:nvSpPr>
        <p:spPr>
          <a:xfrm>
            <a:off x="7315200" y="1188720"/>
            <a:ext cx="4297680" cy="4023360"/>
          </a:xfrm>
          <a:prstGeom prst="roundRect">
            <a:avLst/>
          </a:prstGeom>
          <a:solidFill>
            <a:srgbClr val="F6F8FB"/>
          </a:solidFill>
          <a:ln>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43800" y="1417320"/>
            <a:ext cx="3474720" cy="274320"/>
          </a:xfrm>
          <a:prstGeom prst="rect">
            <a:avLst/>
          </a:prstGeom>
          <a:noFill/>
        </p:spPr>
        <p:txBody>
          <a:bodyPr wrap="none">
            <a:spAutoFit/>
          </a:bodyPr>
          <a:lstStyle/>
          <a:p>
            <a:pPr>
              <a:defRPr sz="1400" b="1">
                <a:solidFill>
                  <a:srgbClr val="183B56"/>
                </a:solidFill>
                <a:latin typeface="Aptos"/>
              </a:defRPr>
            </a:pPr>
            <a:r>
              <a:t>Insight asociado</a:t>
            </a:r>
          </a:p>
        </p:txBody>
      </p:sp>
      <p:sp>
        <p:nvSpPr>
          <p:cNvPr id="6" name="TextBox 5"/>
          <p:cNvSpPr txBox="1"/>
          <p:nvPr/>
        </p:nvSpPr>
        <p:spPr>
          <a:xfrm>
            <a:off x="7543800" y="1828800"/>
            <a:ext cx="3657600" cy="502920"/>
          </a:xfrm>
          <a:prstGeom prst="rect">
            <a:avLst/>
          </a:prstGeom>
          <a:noFill/>
        </p:spPr>
        <p:txBody>
          <a:bodyPr wrap="none">
            <a:spAutoFit/>
          </a:bodyPr>
          <a:lstStyle/>
          <a:p>
            <a:pPr>
              <a:defRPr sz="1200">
                <a:solidFill>
                  <a:srgbClr val="1F2937"/>
                </a:solidFill>
                <a:latin typeface="Aptos"/>
              </a:defRPr>
            </a:pPr>
            <a:r>
              <a:t>• Insight Los datos muestran un patrón no lineal entre el tamaño de la familia y la supervivencia: los grupos pequeños o medianos registran mejores tasas que quienes viajaban solos o en familias muy grandes. Esto sugiere</a:t>
            </a:r>
          </a:p>
        </p:txBody>
      </p:sp>
      <p:sp>
        <p:nvSpPr>
          <p:cNvPr id="7" name="TextBox 6"/>
          <p:cNvSpPr txBox="1"/>
          <p:nvPr/>
        </p:nvSpPr>
        <p:spPr>
          <a:xfrm>
            <a:off x="7543800" y="2468880"/>
            <a:ext cx="3657600" cy="502920"/>
          </a:xfrm>
          <a:prstGeom prst="rect">
            <a:avLst/>
          </a:prstGeom>
          <a:noFill/>
        </p:spPr>
        <p:txBody>
          <a:bodyPr wrap="none">
            <a:spAutoFit/>
          </a:bodyPr>
          <a:lstStyle/>
          <a:p>
            <a:pPr>
              <a:defRPr sz="1200">
                <a:solidFill>
                  <a:srgbClr val="1F2937"/>
                </a:solidFill>
                <a:latin typeface="Aptos"/>
              </a:defRPr>
            </a:pPr>
            <a:r>
              <a:t>• que el tamaño del núcleo familiar podría estar asociado al resultado final. Una posible explicación es que ciertos tamaños de grupo hayan facilitado o dificultado la capacidad de respuesta durante la evacuación, aunque</a:t>
            </a:r>
          </a:p>
        </p:txBody>
      </p:sp>
      <p:sp>
        <p:nvSpPr>
          <p:cNvPr id="8" name="TextBox 7"/>
          <p:cNvSpPr txBox="1"/>
          <p:nvPr/>
        </p:nvSpPr>
        <p:spPr>
          <a:xfrm>
            <a:off x="7543800" y="3108960"/>
            <a:ext cx="3657600" cy="502920"/>
          </a:xfrm>
          <a:prstGeom prst="rect">
            <a:avLst/>
          </a:prstGeom>
          <a:noFill/>
        </p:spPr>
        <p:txBody>
          <a:bodyPr wrap="none">
            <a:spAutoFit/>
          </a:bodyPr>
          <a:lstStyle/>
          <a:p>
            <a:pPr>
              <a:defRPr sz="1200">
                <a:solidFill>
                  <a:srgbClr val="1F2937"/>
                </a:solidFill>
                <a:latin typeface="Aptos"/>
              </a:defRPr>
            </a:pPr>
            <a:r>
              <a:t>• los datos no permiten afirmarlo como causa probada. En términos analíticos, tamano_familia parece ser una variable útil para complementar la lectura demográfica y socioeconómica de la supervivencia.</a:t>
            </a:r>
          </a:p>
        </p:txBody>
      </p:sp>
      <p:sp>
        <p:nvSpPr>
          <p:cNvPr id="9" name="TextBox 8"/>
          <p:cNvSpPr txBox="1"/>
          <p:nvPr/>
        </p:nvSpPr>
        <p:spPr>
          <a:xfrm>
            <a:off x="7543800" y="4754880"/>
            <a:ext cx="3200400" cy="228600"/>
          </a:xfrm>
          <a:prstGeom prst="rect">
            <a:avLst/>
          </a:prstGeom>
          <a:noFill/>
        </p:spPr>
        <p:txBody>
          <a:bodyPr wrap="none">
            <a:spAutoFit/>
          </a:bodyPr>
          <a:lstStyle/>
          <a:p>
            <a:pPr>
              <a:defRPr sz="1000">
                <a:solidFill>
                  <a:srgbClr val="6B7280"/>
                </a:solidFill>
                <a:latin typeface="Aptos"/>
              </a:defRPr>
            </a:pPr>
            <a:r>
              <a:t>Fuente: celda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0972800" cy="457200"/>
          </a:xfrm>
          <a:prstGeom prst="rect">
            <a:avLst/>
          </a:prstGeom>
          <a:noFill/>
        </p:spPr>
        <p:txBody>
          <a:bodyPr wrap="none">
            <a:spAutoFit/>
          </a:bodyPr>
          <a:lstStyle/>
          <a:p>
            <a:pPr>
              <a:defRPr sz="2200" b="1">
                <a:solidFill>
                  <a:srgbClr val="183B56"/>
                </a:solidFill>
                <a:latin typeface="Aptos Display"/>
              </a:defRPr>
            </a:pPr>
            <a:r>
              <a:t>Distribución de edad por resultado</a:t>
            </a:r>
          </a:p>
        </p:txBody>
      </p:sp>
      <p:pic>
        <p:nvPicPr>
          <p:cNvPr id="3" name="Picture 2" descr="chart_07.png"/>
          <p:cNvPicPr>
            <a:picLocks noChangeAspect="1"/>
          </p:cNvPicPr>
          <p:nvPr/>
        </p:nvPicPr>
        <p:blipFill>
          <a:blip r:embed="rId2"/>
          <a:stretch>
            <a:fillRect/>
          </a:stretch>
        </p:blipFill>
        <p:spPr>
          <a:xfrm>
            <a:off x="640080" y="1097280"/>
            <a:ext cx="6400800" cy="4206240"/>
          </a:xfrm>
          <a:prstGeom prst="rect">
            <a:avLst/>
          </a:prstGeom>
        </p:spPr>
      </p:pic>
      <p:sp>
        <p:nvSpPr>
          <p:cNvPr id="4" name="Rounded Rectangle 3"/>
          <p:cNvSpPr/>
          <p:nvPr/>
        </p:nvSpPr>
        <p:spPr>
          <a:xfrm>
            <a:off x="7315200" y="1188720"/>
            <a:ext cx="4297680" cy="4023360"/>
          </a:xfrm>
          <a:prstGeom prst="roundRect">
            <a:avLst/>
          </a:prstGeom>
          <a:solidFill>
            <a:srgbClr val="F6F8FB"/>
          </a:solidFill>
          <a:ln>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543800" y="1417320"/>
            <a:ext cx="3474720" cy="274320"/>
          </a:xfrm>
          <a:prstGeom prst="rect">
            <a:avLst/>
          </a:prstGeom>
          <a:noFill/>
        </p:spPr>
        <p:txBody>
          <a:bodyPr wrap="none">
            <a:spAutoFit/>
          </a:bodyPr>
          <a:lstStyle/>
          <a:p>
            <a:pPr>
              <a:defRPr sz="1400" b="1">
                <a:solidFill>
                  <a:srgbClr val="183B56"/>
                </a:solidFill>
                <a:latin typeface="Aptos"/>
              </a:defRPr>
            </a:pPr>
            <a:r>
              <a:t>Insight asociado</a:t>
            </a:r>
          </a:p>
        </p:txBody>
      </p:sp>
      <p:sp>
        <p:nvSpPr>
          <p:cNvPr id="6" name="TextBox 5"/>
          <p:cNvSpPr txBox="1"/>
          <p:nvPr/>
        </p:nvSpPr>
        <p:spPr>
          <a:xfrm>
            <a:off x="7543800" y="1828800"/>
            <a:ext cx="3657600" cy="502920"/>
          </a:xfrm>
          <a:prstGeom prst="rect">
            <a:avLst/>
          </a:prstGeom>
          <a:noFill/>
        </p:spPr>
        <p:txBody>
          <a:bodyPr wrap="none">
            <a:spAutoFit/>
          </a:bodyPr>
          <a:lstStyle/>
          <a:p>
            <a:pPr>
              <a:defRPr sz="1200">
                <a:solidFill>
                  <a:srgbClr val="1F2937"/>
                </a:solidFill>
                <a:latin typeface="Aptos"/>
              </a:defRPr>
            </a:pPr>
            <a:r>
              <a:t>• Insight Los datos muestran que la distribución de edades difiere entre quienes sobrevivieron y quienes no sobrevivieron. En particular, los pasajeros de menor edad parecen tener una presencia relativamente mayor entre</a:t>
            </a:r>
          </a:p>
        </p:txBody>
      </p:sp>
      <p:sp>
        <p:nvSpPr>
          <p:cNvPr id="7" name="TextBox 6"/>
          <p:cNvSpPr txBox="1"/>
          <p:nvPr/>
        </p:nvSpPr>
        <p:spPr>
          <a:xfrm>
            <a:off x="7543800" y="2468880"/>
            <a:ext cx="3657600" cy="502920"/>
          </a:xfrm>
          <a:prstGeom prst="rect">
            <a:avLst/>
          </a:prstGeom>
          <a:noFill/>
        </p:spPr>
        <p:txBody>
          <a:bodyPr wrap="none">
            <a:spAutoFit/>
          </a:bodyPr>
          <a:lstStyle/>
          <a:p>
            <a:pPr>
              <a:defRPr sz="1200">
                <a:solidFill>
                  <a:srgbClr val="1F2937"/>
                </a:solidFill>
                <a:latin typeface="Aptos"/>
              </a:defRPr>
            </a:pPr>
            <a:r>
              <a:t>• los sobrevivientes, mientras que en edades más altas la frecuencia se concentra más en quienes no sobrevivieron. Esto sugiere que la edad podría estar asociada al resultado final, aunque el gráfico por sí solo no prueba</a:t>
            </a:r>
          </a:p>
        </p:txBody>
      </p:sp>
      <p:sp>
        <p:nvSpPr>
          <p:cNvPr id="8" name="TextBox 7"/>
          <p:cNvSpPr txBox="1"/>
          <p:nvPr/>
        </p:nvSpPr>
        <p:spPr>
          <a:xfrm>
            <a:off x="7543800" y="3108960"/>
            <a:ext cx="3657600" cy="502920"/>
          </a:xfrm>
          <a:prstGeom prst="rect">
            <a:avLst/>
          </a:prstGeom>
          <a:noFill/>
        </p:spPr>
        <p:txBody>
          <a:bodyPr wrap="none">
            <a:spAutoFit/>
          </a:bodyPr>
          <a:lstStyle/>
          <a:p>
            <a:pPr>
              <a:defRPr sz="1200">
                <a:solidFill>
                  <a:srgbClr val="1F2937"/>
                </a:solidFill>
                <a:latin typeface="Aptos"/>
              </a:defRPr>
            </a:pPr>
            <a:r>
              <a:t>• una relación causal. Una posible explicación es que la vulnerabilidad o las condiciones de evacuación hayan afectado de forma distinta a los grupos etarios. En términos analíticos, esta visualización refuerza que Age no</a:t>
            </a:r>
          </a:p>
        </p:txBody>
      </p:sp>
      <p:sp>
        <p:nvSpPr>
          <p:cNvPr id="9" name="TextBox 8"/>
          <p:cNvSpPr txBox="1"/>
          <p:nvPr/>
        </p:nvSpPr>
        <p:spPr>
          <a:xfrm>
            <a:off x="7543800" y="3749040"/>
            <a:ext cx="3657600" cy="502920"/>
          </a:xfrm>
          <a:prstGeom prst="rect">
            <a:avLst/>
          </a:prstGeom>
          <a:noFill/>
        </p:spPr>
        <p:txBody>
          <a:bodyPr wrap="none">
            <a:spAutoFit/>
          </a:bodyPr>
          <a:lstStyle/>
          <a:p>
            <a:pPr>
              <a:defRPr sz="1200">
                <a:solidFill>
                  <a:srgbClr val="1F2937"/>
                </a:solidFill>
                <a:latin typeface="Aptos"/>
              </a:defRPr>
            </a:pPr>
            <a:r>
              <a:t>• solo aporta valor como variable individual, sino también como dimensión útil para segmentar el riesgo y complementar la lectura de supervivencia por grupo etario.</a:t>
            </a:r>
          </a:p>
        </p:txBody>
      </p:sp>
      <p:sp>
        <p:nvSpPr>
          <p:cNvPr id="10" name="TextBox 9"/>
          <p:cNvSpPr txBox="1"/>
          <p:nvPr/>
        </p:nvSpPr>
        <p:spPr>
          <a:xfrm>
            <a:off x="7543800" y="4754880"/>
            <a:ext cx="3200400" cy="228600"/>
          </a:xfrm>
          <a:prstGeom prst="rect">
            <a:avLst/>
          </a:prstGeom>
          <a:noFill/>
        </p:spPr>
        <p:txBody>
          <a:bodyPr wrap="none">
            <a:spAutoFit/>
          </a:bodyPr>
          <a:lstStyle/>
          <a:p>
            <a:pPr>
              <a:defRPr sz="1000">
                <a:solidFill>
                  <a:srgbClr val="6B7280"/>
                </a:solidFill>
                <a:latin typeface="Aptos"/>
              </a:defRPr>
            </a:pPr>
            <a:r>
              <a:t>Fuente: celda 23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57200"/>
            <a:ext cx="10972800" cy="457200"/>
          </a:xfrm>
          <a:prstGeom prst="rect">
            <a:avLst/>
          </a:prstGeom>
          <a:noFill/>
        </p:spPr>
        <p:txBody>
          <a:bodyPr wrap="none">
            <a:spAutoFit/>
          </a:bodyPr>
          <a:lstStyle/>
          <a:p>
            <a:pPr>
              <a:defRPr sz="2200" b="1">
                <a:solidFill>
                  <a:srgbClr val="183B56"/>
                </a:solidFill>
                <a:latin typeface="Aptos Display"/>
              </a:defRPr>
            </a:pPr>
            <a:r>
              <a:t>Conclusión</a:t>
            </a:r>
          </a:p>
        </p:txBody>
      </p:sp>
      <p:sp>
        <p:nvSpPr>
          <p:cNvPr id="3" name="Rounded Rectangle 2"/>
          <p:cNvSpPr/>
          <p:nvPr/>
        </p:nvSpPr>
        <p:spPr>
          <a:xfrm>
            <a:off x="685800" y="1188720"/>
            <a:ext cx="10698480" cy="4297680"/>
          </a:xfrm>
          <a:prstGeom prst="roundRect">
            <a:avLst/>
          </a:prstGeom>
          <a:solidFill>
            <a:srgbClr val="FBFCFE"/>
          </a:solidFill>
          <a:ln>
            <a:solidFill>
              <a:srgbClr val="D8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554480"/>
            <a:ext cx="10058400" cy="3657600"/>
          </a:xfrm>
          <a:prstGeom prst="rect">
            <a:avLst/>
          </a:prstGeom>
          <a:noFill/>
        </p:spPr>
        <p:txBody>
          <a:bodyPr wrap="square">
            <a:spAutoFit/>
          </a:bodyPr>
          <a:lstStyle/>
          <a:p>
            <a:pPr>
              <a:defRPr sz="1600">
                <a:solidFill>
                  <a:srgbClr val="1F2937"/>
                </a:solidFill>
                <a:latin typeface="Aptos"/>
              </a:defRPr>
            </a:pPr>
            <a:r>
              <a:t>Conclusión Los datos muestran que la supervivencia en el Titanic no se distribuyó de manera homogénea entre los pasajeros. Esto sugiere que variables demográficas y socioeconómicas como sexo, clase, edad y tamaño de familia podrían estar asociadas a diferencias relevantes en el resultado final. En conjunto, el análisis permite construir una narrativa clara para portafolio y ofrece una base consistente para un modelo predictivo posterior.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Titanic: análisis exploratorio y factores asociados a la supervivencia</dc:title>
  <dc:subject>Reporte ejecutivo generado desde notebook</dc:subject>
  <dc:creator>OpenAI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